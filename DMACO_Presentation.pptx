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E20074"/>
                </a:solidFill>
                <a:latin typeface="Calibri"/>
              </a:defRPr>
            </a:pPr>
            <a:r>
              <a:t>DMACO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Calibri"/>
              </a:defRPr>
            </a:pPr>
            <a:r>
              <a:t>Deterministic Multi-Agent Configuration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8"/>
                </a:solidFill>
                <a:latin typeface="Calibri"/>
              </a:defRPr>
            </a:pPr>
            <a:r>
              <a:t>Guided AI-powered configuration for Text-to-SQL bots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2743200" cy="3657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T-Mobile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1.  The Problem — Why configuring Text-to-SQL bots is painful today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2.  Our Approach — DMACO architecture &amp; hybrid AI strategy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3.  Live Demo — Telecom billing bot configuration, end to 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Configuring Text-to-SQL bots today is manual, error-prone, and slow.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A0A0B8"/>
                </a:solidFill>
                <a:latin typeface="Calibri"/>
              </a:defRPr>
            </a:pPr>
            <a:r>
              <a:t>Engineers hand-craft JSON configs with 100+ fields</a:t>
            </a:r>
          </a:p>
          <a:p>
            <a:pPr>
              <a:spcAft>
                <a:spcPts val="800"/>
              </a:spcAft>
              <a:defRPr sz="1800">
                <a:solidFill>
                  <a:srgbClr val="A0A0B8"/>
                </a:solidFill>
                <a:latin typeface="Calibri"/>
              </a:defRPr>
            </a:pPr>
            <a:r>
              <a:t>No validation until deploy — typos break production</a:t>
            </a:r>
          </a:p>
          <a:p>
            <a:pPr>
              <a:spcAft>
                <a:spcPts val="800"/>
              </a:spcAft>
              <a:defRPr sz="1800">
                <a:solidFill>
                  <a:srgbClr val="A0A0B8"/>
                </a:solidFill>
                <a:latin typeface="Calibri"/>
              </a:defRPr>
            </a:pPr>
            <a:r>
              <a:t>Domain experts can't participate (too technical)</a:t>
            </a:r>
          </a:p>
          <a:p>
            <a:pPr>
              <a:spcAft>
                <a:spcPts val="800"/>
              </a:spcAft>
              <a:defRPr sz="1800">
                <a:solidFill>
                  <a:srgbClr val="A0A0B8"/>
                </a:solidFill>
                <a:latin typeface="Calibri"/>
              </a:defRPr>
            </a:pPr>
            <a:r>
              <a:t>Every new domain means starting from scratch</a:t>
            </a:r>
          </a:p>
          <a:p>
            <a:pPr>
              <a:spcAft>
                <a:spcPts val="800"/>
              </a:spcAft>
              <a:defRPr sz="1800">
                <a:solidFill>
                  <a:srgbClr val="A0A0B8"/>
                </a:solidFill>
                <a:latin typeface="Calibri"/>
              </a:defRPr>
            </a:pPr>
            <a:r>
              <a:t>No audit trail of configuration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2377440"/>
            <a:ext cx="4389120" cy="32004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560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0074"/>
                </a:solidFill>
                <a:latin typeface="Calibri"/>
              </a:defRPr>
            </a:pPr>
            <a:r>
              <a:t>Typical pain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200400"/>
            <a:ext cx="3840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8"/>
                </a:solidFill>
                <a:latin typeface="Calibri"/>
              </a:defRPr>
            </a:pPr>
            <a:r>
              <a:t>~2-4 hours per configuration</a:t>
            </a:r>
          </a:p>
          <a:p>
            <a:pPr>
              <a:spcAft>
                <a:spcPts val="800"/>
              </a:spcAft>
              <a:defRPr sz="1600">
                <a:solidFill>
                  <a:srgbClr val="A0A0B8"/>
                </a:solidFill>
                <a:latin typeface="Calibri"/>
              </a:defRPr>
            </a:pPr>
            <a:r>
              <a:t>~30% configs have errors on first deploy</a:t>
            </a:r>
          </a:p>
          <a:p>
            <a:pPr>
              <a:spcAft>
                <a:spcPts val="800"/>
              </a:spcAft>
              <a:defRPr sz="1600">
                <a:solidFill>
                  <a:srgbClr val="A0A0B8"/>
                </a:solidFill>
                <a:latin typeface="Calibri"/>
              </a:defRPr>
            </a:pPr>
            <a:r>
              <a:t>0 visibility for business stakeholders</a:t>
            </a:r>
          </a:p>
          <a:p>
            <a:pPr>
              <a:spcAft>
                <a:spcPts val="800"/>
              </a:spcAft>
              <a:defRPr sz="1600">
                <a:solidFill>
                  <a:srgbClr val="A0A0B8"/>
                </a:solidFill>
                <a:latin typeface="Calibri"/>
              </a:defRPr>
            </a:pPr>
            <a:r>
              <a:t>No reusable templates across domains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1. The Problem — What Goes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200400" cy="38404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0074"/>
                </a:solidFill>
                <a:latin typeface="Calibri"/>
              </a:defRPr>
            </a:pPr>
            <a:r>
              <a:t>Manual JSON Editing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Deeply nested structure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Easy to mistype field names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No schema enforcement at edit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3200400" cy="38404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0074"/>
                </a:solidFill>
                <a:latin typeface="Calibri"/>
              </a:defRPr>
            </a:pPr>
            <a:r>
              <a:t>No Guided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Users jump between docs and editor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Steps can be skipped or done out of order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Onboarding takes days, not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45920"/>
            <a:ext cx="3200400" cy="38404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0074"/>
                </a:solidFill>
                <a:latin typeface="Calibri"/>
              </a:defRPr>
            </a:pPr>
            <a:r>
              <a:t>Zero Change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37744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Who edited what? When?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No diff between config versions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Impossible to audit for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2. Our Approach — DMACO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A hybrid AI + deterministic pipeline that guides users step-by-step.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651760" cy="29260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Finite-State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15-state FSM enforces correct order.</a:t>
            </a:r>
            <a:br/>
            <a:r>
              <a:t>No skipping, no invalid transitions.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743200"/>
            <a:ext cx="2651760" cy="29260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7 Specialized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Each step has its own LLM agent</a:t>
            </a:r>
            <a:br/>
            <a:r>
              <a:t>with isolated system prompts.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2743200"/>
            <a:ext cx="2651760" cy="29260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39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Deterministic Validators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39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Every LLM output is gated by</a:t>
            </a:r>
            <a:br/>
            <a:r>
              <a:t>rule-based validation before storage.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19" y="2743200"/>
            <a:ext cx="2651760" cy="29260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599" y="2880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Chat-Based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599" y="34747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Non-technical users can configure</a:t>
            </a:r>
            <a:br/>
            <a:r>
              <a:t>bots through natural conversation.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2. Architecture — Hybrid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828800" cy="9144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48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007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011680"/>
            <a:ext cx="1828800" cy="914400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148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LLM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148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007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011680"/>
            <a:ext cx="1828800" cy="9144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148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Validator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48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007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2011680"/>
            <a:ext cx="1828800" cy="9144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148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FSM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2148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20074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2011680"/>
            <a:ext cx="1828800" cy="9144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21488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JSON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8"/>
                </a:solidFill>
                <a:latin typeface="Calibri"/>
              </a:defRPr>
            </a:pPr>
            <a:r>
              <a:t>Every agent response is validated before the FSM advances — hallucinations never reach storage.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10515600" cy="20116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0074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548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A0A0B8"/>
                </a:solidFill>
                <a:latin typeface="Calibri"/>
              </a:defRPr>
            </a:pPr>
            <a:r>
              <a:t>Azure OpenAI (GPT-4o) — natural language understanding for 7 specialized agents</a:t>
            </a:r>
          </a:p>
          <a:p>
            <a:pPr>
              <a:spcAft>
                <a:spcPts val="800"/>
              </a:spcAft>
              <a:defRPr sz="1400">
                <a:solidFill>
                  <a:srgbClr val="A0A0B8"/>
                </a:solidFill>
                <a:latin typeface="Calibri"/>
              </a:defRPr>
            </a:pPr>
            <a:r>
              <a:t>15-State FSM — enforces valid transitions; no skipping steps</a:t>
            </a:r>
          </a:p>
          <a:p>
            <a:pPr>
              <a:spcAft>
                <a:spcPts val="800"/>
              </a:spcAft>
              <a:defRPr sz="1400">
                <a:solidFill>
                  <a:srgbClr val="A0A0B8"/>
                </a:solidFill>
                <a:latin typeface="Calibri"/>
              </a:defRPr>
            </a:pPr>
            <a:r>
              <a:t>Deterministic Validators — injection detection, SQL parsing, domain/subdomain checks</a:t>
            </a:r>
          </a:p>
          <a:p>
            <a:pPr>
              <a:spcAft>
                <a:spcPts val="800"/>
              </a:spcAft>
              <a:defRPr sz="1400">
                <a:solidFill>
                  <a:srgbClr val="A0A0B8"/>
                </a:solidFill>
                <a:latin typeface="Calibri"/>
              </a:defRPr>
            </a:pPr>
            <a:r>
              <a:t>Streamlit SPA — T-Mobile branded chat interface with buttons, forms &amp; live JSON preview</a:t>
            </a:r>
          </a:p>
          <a:p>
            <a:pPr>
              <a:spcAft>
                <a:spcPts val="800"/>
              </a:spcAft>
              <a:defRPr sz="1400">
                <a:solidFill>
                  <a:srgbClr val="A0A0B8"/>
                </a:solidFill>
                <a:latin typeface="Calibri"/>
              </a:defRPr>
            </a:pPr>
            <a:r>
              <a:t>Backlog System — every table add/edit/delete is logged with linked summary + detail tables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2. Security &amp; Guardrails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3474720" cy="20116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Prompt Injection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13 regex patterns block jailbreak attempts</a:t>
            </a:r>
            <a:br/>
            <a:r>
              <a:t>("ignore previous instructions", DAN, etc.)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79" y="1645920"/>
            <a:ext cx="3474720" cy="20116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Input Sanitisation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331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HTML stripping, length limits (2000 chars),</a:t>
            </a:r>
            <a:br/>
            <a:r>
              <a:t>SQL mutation keyword blocking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19" y="1645920"/>
            <a:ext cx="3474720" cy="20116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FSM Transition 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331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Only legal state transitions are allowed.</a:t>
            </a:r>
            <a:br/>
            <a:r>
              <a:t>Illegal jumps are logged and blocked.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23360"/>
            <a:ext cx="3474720" cy="20116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Isolated Agent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Each of the 7 agents has its own system</a:t>
            </a:r>
            <a:br/>
            <a:r>
              <a:t>prompt — no cross-contamination.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4023360"/>
            <a:ext cx="3474720" cy="20116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Deterministic Gating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47091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LLM outputs always pass through validators</a:t>
            </a:r>
            <a:br/>
            <a:r>
              <a:t>before reaching the data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4023360"/>
            <a:ext cx="3474720" cy="201168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41605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Backlog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7091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Every schema change is recorded with ID,</a:t>
            </a:r>
            <a:br/>
            <a:r>
              <a:t>timestamp, action, before/after DDL.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3.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Scenario: Telecom Billing 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8"/>
                </a:solidFill>
                <a:latin typeface="Calibri"/>
              </a:defRPr>
            </a:pPr>
            <a:r>
              <a:t>A telecom company needs a Text-to-SQL bot that lets support agents query billing data.</a:t>
            </a:r>
            <a:br/>
            <a:r>
              <a:t>Today this takes a senior engineer 2+ hours to configure. With DMACO, a product manager</a:t>
            </a:r>
            <a:br/>
            <a:r>
              <a:t>can do it in under 5 minutes — with full validation and an audit trail.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89120"/>
            <a:ext cx="10058400" cy="3657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20074"/>
                </a:solidFill>
                <a:latin typeface="Calibri"/>
              </a:defRPr>
            </a:pPr>
            <a:r>
              <a:t>What we'll walk through: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A0A0B8"/>
                </a:solidFill>
                <a:latin typeface="Calibri"/>
              </a:defRPr>
            </a:pPr>
            <a:r>
              <a:t>Select the Telecom domain → auto-loads domain prompt</a:t>
            </a:r>
          </a:p>
          <a:p>
            <a:pPr>
              <a:spcAft>
                <a:spcPts val="800"/>
              </a:spcAft>
              <a:defRPr sz="1600">
                <a:solidFill>
                  <a:srgbClr val="A0A0B8"/>
                </a:solidFill>
                <a:latin typeface="Calibri"/>
              </a:defRPr>
            </a:pPr>
            <a:r>
              <a:t>Pre-loaded billing tables (subscribers, invoices, payments) → add a custom table</a:t>
            </a:r>
          </a:p>
          <a:p>
            <a:pPr>
              <a:spcAft>
                <a:spcPts val="800"/>
              </a:spcAft>
              <a:defRPr sz="1600">
                <a:solidFill>
                  <a:srgbClr val="A0A0B8"/>
                </a:solidFill>
                <a:latin typeface="Calibri"/>
              </a:defRPr>
            </a:pPr>
            <a:r>
              <a:t>Choose Billing sub-domain → configure sub-domain prompt</a:t>
            </a:r>
          </a:p>
          <a:p>
            <a:pPr>
              <a:spcAft>
                <a:spcPts val="800"/>
              </a:spcAft>
              <a:defRPr sz="1600">
                <a:solidFill>
                  <a:srgbClr val="A0A0B8"/>
                </a:solidFill>
                <a:latin typeface="Calibri"/>
              </a:defRPr>
            </a:pPr>
            <a:r>
              <a:t>Add few-shot examples (natural language → SQL) → export final 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Demo Step 1 — Domain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What the user sees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Four domain buttons: Sales, Finance, Healthcare, Telecom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User clicks "Telecom"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Bot asks: "You chose Telecom. Confirm? (Yes / No)"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User clicks "Yes" → moves to General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What happens under the hood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FSM state: DOMAIN_SELECTION → DOMAIN_CONFIRMATION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Domain agent (GPT-4o) interprets the choice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Validator checks against allowed domains list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On confirm: FSM advances to GENERAL_PROMPT_ENTRY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Built-in prompt auto-loaded for Telecom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Demo Step 2 — Table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Pre-loaded tables (from mock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subscribers</a:t>
            </a:r>
            <a:br/>
            <a:r>
              <a:t>  subscriber_id, phone_number, plan_name, status, ...</a:t>
            </a:r>
            <a:br/>
            <a:br/>
            <a:r>
              <a:t>invoices</a:t>
            </a:r>
            <a:br/>
            <a:r>
              <a:t>  invoice_id, subscriber_id, billing_period, amount_due, ...</a:t>
            </a:r>
            <a:br/>
            <a:br/>
            <a:r>
              <a:t>payments</a:t>
            </a:r>
            <a:br/>
            <a:r>
              <a:t>  payment_id, invoice_id, payment_date, amount_paid, ...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Adding a custom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B8"/>
                </a:solidFill>
                <a:latin typeface="Calibri"/>
              </a:defRPr>
            </a:pPr>
            <a:r>
              <a:t>User clicks 'Add Table' and enters:</a:t>
            </a:r>
            <a:br/>
            <a:br/>
            <a:r>
              <a:t>CREATE TABLE usage_records (</a:t>
            </a:r>
            <a:br/>
            <a:r>
              <a:t>  record_id INT PRIMARY KEY,</a:t>
            </a:r>
            <a:br/>
            <a:r>
              <a:t>  subscriber_id INT NOT NULL,</a:t>
            </a:r>
            <a:br/>
            <a:r>
              <a:t>  data_mb DECIMAL(10,2),</a:t>
            </a:r>
            <a:br/>
            <a:r>
              <a:t>  voice_minutes INT,</a:t>
            </a:r>
            <a:br/>
            <a:r>
              <a:t>  sms_count INT,</a:t>
            </a:r>
            <a:br/>
            <a:r>
              <a:t>  record_date DATE NOT NULL</a:t>
            </a:r>
            <a:br/>
            <a:r>
              <a:t>);</a:t>
            </a:r>
            <a:br/>
            <a:br/>
            <a:r>
              <a:t>→ Validator parses DDL, extracts columns</a:t>
            </a:r>
            <a:br/>
            <a:r>
              <a:t>→ Backlog logs: "Added table 'usage_records'"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Demo Step 3 — Sub-domain &amp; Few-shot 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Sub-domain: Billing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User picks "Billing" from 4 focus areas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Auto-loaded prompt: "Focus on billing queries..."</a:t>
            </a:r>
          </a:p>
          <a:p>
            <a:pPr>
              <a:spcAft>
                <a:spcPts val="800"/>
              </a:spcAft>
              <a:defRPr sz="1500">
                <a:solidFill>
                  <a:srgbClr val="A0A0B8"/>
                </a:solidFill>
                <a:latin typeface="Calibri"/>
              </a:defRPr>
            </a:pPr>
            <a:r>
              <a:t>User clicks "Keep" to accept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20074"/>
                </a:solidFill>
                <a:latin typeface="Calibri"/>
              </a:defRPr>
            </a:pPr>
            <a:r>
              <a:t>Pre-loaded few-shot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89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Q: "What is the total outstanding balance?"</a:t>
            </a:r>
            <a:br/>
            <a:r>
              <a:t>SQL: SELECT SUM(amount_due - amount_paid) ...</a:t>
            </a:r>
            <a:br/>
            <a:br/>
            <a:r>
              <a:t>Q: "Show overdue invoices for this month"</a:t>
            </a:r>
            <a:br/>
            <a:r>
              <a:t>SQL: SELECT * FROM invoices WHERE 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Adding a custom few-shot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User adds via structured form:</a:t>
            </a:r>
            <a:br/>
            <a:br/>
            <a:r>
              <a:t>Question:</a:t>
            </a:r>
            <a:br/>
            <a:r>
              <a:t>  "Show data usage per subscriber this month"</a:t>
            </a:r>
            <a:br/>
            <a:br/>
            <a:r>
              <a:t>SQL:</a:t>
            </a:r>
            <a:br/>
            <a:r>
              <a:t>  SELECT s.phone_number,</a:t>
            </a:r>
            <a:br/>
            <a:r>
              <a:t>         SUM(u.data_mb) AS total_data_mb</a:t>
            </a:r>
            <a:br/>
            <a:r>
              <a:t>  FROM usage_records u</a:t>
            </a:r>
            <a:br/>
            <a:r>
              <a:t>  JOIN subscribers s</a:t>
            </a:r>
            <a:br/>
            <a:r>
              <a:t>    ON u.subscriber_id = s.subscriber_id</a:t>
            </a:r>
            <a:br/>
            <a:r>
              <a:t>  WHERE u.record_date &gt;= DATE_TRUNC(</a:t>
            </a:r>
            <a:br/>
            <a:r>
              <a:t>    'month', CURRENT_DATE)</a:t>
            </a:r>
            <a:br/>
            <a:r>
              <a:t>  GROUP BY s.phone_number;</a:t>
            </a:r>
            <a:br/>
            <a:br/>
            <a:r>
              <a:t>→ Validator cross-checks tables &amp; columns</a:t>
            </a:r>
            <a:br/>
            <a:r>
              <a:t>→ References usage_records (custom table) 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Demo Step 4 — Export &amp; Backlog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Final JSON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8"/>
                </a:solidFill>
                <a:latin typeface="Calibri"/>
              </a:defRPr>
            </a:pPr>
            <a:r>
              <a:t>{</a:t>
            </a:r>
            <a:br/>
            <a:r>
              <a:t>  "domain": "telecom",</a:t>
            </a:r>
            <a:br/>
            <a:r>
              <a:t>  "general_prompt": "You are an AI assistant...",</a:t>
            </a:r>
            <a:br/>
            <a:r>
              <a:t>  "tables": [</a:t>
            </a:r>
            <a:br/>
            <a:r>
              <a:t>    {"name": "subscribers", "description": "..."},</a:t>
            </a:r>
            <a:br/>
            <a:r>
              <a:t>    {"name": "invoices", "description": "..."},</a:t>
            </a:r>
            <a:br/>
            <a:r>
              <a:t>    {"name": "payments", "description": "..."},</a:t>
            </a:r>
            <a:br/>
            <a:r>
              <a:t>    {"name": "usage_records", "description": "..."}</a:t>
            </a:r>
            <a:br/>
            <a:r>
              <a:t>  ],</a:t>
            </a:r>
            <a:br/>
            <a:r>
              <a:t>  "sub_domain": "billing",</a:t>
            </a:r>
            <a:br/>
            <a:r>
              <a:t>  "sub_domain_prompt": "Focus on billing...",</a:t>
            </a:r>
            <a:br/>
            <a:r>
              <a:t>  "few_shots": [ ... 3 examples ... ]</a:t>
            </a:r>
            <a:br/>
            <a: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0074"/>
                </a:solidFill>
                <a:latin typeface="Calibri"/>
              </a:defRPr>
            </a:pPr>
            <a:r>
              <a:t>Backlog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377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Summary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834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ID            Date                        Summary</a:t>
            </a:r>
            <a:br/>
            <a:r>
              <a:t>a1b2c3d4  2026-04-08T14:30Z  Added table 'usage_records'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Details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389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8"/>
                </a:solidFill>
                <a:latin typeface="Calibri"/>
              </a:defRPr>
            </a:pPr>
            <a:r>
              <a:t>ID            Action   Table               DDL</a:t>
            </a:r>
            <a:br/>
            <a:r>
              <a:t>a1b2c3d4  add        usage_records   CREATE TABLE usage_records (...)</a:t>
            </a:r>
            <a:br/>
            <a:br/>
            <a:r>
              <a:t>→ Linked by ID — full traceability from summary to details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0074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2651760" cy="32004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0074"/>
                </a:solidFill>
                <a:latin typeface="Calibri"/>
              </a:defRPr>
            </a:pPr>
            <a:r>
              <a:t>&lt; 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8"/>
                </a:solidFill>
                <a:latin typeface="Calibri"/>
              </a:defRPr>
            </a:pPr>
            <a:r>
              <a:t>Configuration time</a:t>
            </a:r>
            <a:br/>
            <a:r>
              <a:t>(vs. 2-4 hours manually)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1828800"/>
            <a:ext cx="2651760" cy="32004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0074"/>
                </a:solidFill>
                <a:latin typeface="Calibri"/>
              </a:defRPr>
            </a:pPr>
            <a:r>
              <a:t>0 errors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32918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8"/>
                </a:solidFill>
                <a:latin typeface="Calibri"/>
              </a:defRPr>
            </a:pPr>
            <a:r>
              <a:t>Validators catch issues</a:t>
            </a:r>
            <a:br/>
            <a:r>
              <a:t>before they reach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828800"/>
            <a:ext cx="2651760" cy="32004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0074"/>
                </a:solidFill>
                <a:latin typeface="Calibri"/>
              </a:defRPr>
            </a:pPr>
            <a:r>
              <a:t>Non-technical</a:t>
            </a:r>
            <a:br/>
            <a:r>
              <a:t>friendly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32918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8"/>
                </a:solidFill>
                <a:latin typeface="Calibri"/>
              </a:defRPr>
            </a:pPr>
            <a:r>
              <a:t>Product managers can</a:t>
            </a:r>
            <a:br/>
            <a:r>
              <a:t>configure bots directly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19" y="1828800"/>
            <a:ext cx="2651760" cy="3200400"/>
          </a:xfrm>
          <a:prstGeom prst="rect">
            <a:avLst/>
          </a:prstGeom>
          <a:solidFill>
            <a:srgbClr val="2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599" y="21031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20074"/>
                </a:solidFill>
                <a:latin typeface="Calibri"/>
              </a:defRPr>
            </a:pPr>
            <a:r>
              <a:t>Full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599" y="329184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A0A0B8"/>
                </a:solidFill>
                <a:latin typeface="Calibri"/>
              </a:defRPr>
            </a:pPr>
            <a:r>
              <a:t>Backlog tracks every</a:t>
            </a:r>
            <a:br/>
            <a:r>
              <a:t>table change with ID + timestamp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20074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389120"/>
            <a:ext cx="2103120" cy="36576"/>
          </a:xfrm>
          <a:prstGeom prst="rect">
            <a:avLst/>
          </a:prstGeom>
          <a:solidFill>
            <a:srgbClr val="E200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